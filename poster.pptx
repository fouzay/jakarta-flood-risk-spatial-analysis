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5113000" cy="21374100"/>
  <p:notesSz cx="6858000" cy="9144000"/>
  <p:embeddedFontLst>
    <p:embeddedFont>
      <p:font typeface="Helvetica World Bold" charset="1" panose="020B0800040000020004"/>
      <p:regular r:id="rId7"/>
    </p:embeddedFont>
    <p:embeddedFont>
      <p:font typeface="Helvetica World" charset="1" panose="020B0500040000020004"/>
      <p:regular r:id="rId8"/>
    </p:embeddedFont>
    <p:embeddedFont>
      <p:font typeface="Helvetica World Italics" charset="1" panose="020B0500040000090004"/>
      <p:regular r:id="rId9"/>
    </p:embeddedFont>
    <p:embeddedFont>
      <p:font typeface="Canva Sans" charset="1" panose="020B0503030501040103"/>
      <p:regular r:id="rId10"/>
    </p:embeddedFont>
    <p:embeddedFont>
      <p:font typeface="Canva Sans Bold" charset="1" panose="020B0803030501040103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BFBFBF">
                <a:alpha val="100000"/>
              </a:srgbClr>
            </a:gs>
            <a:gs pos="50000">
              <a:srgbClr val="000000">
                <a:alpha val="100000"/>
              </a:srgbClr>
            </a:gs>
            <a:gs pos="100000">
              <a:srgbClr val="000000">
                <a:alpha val="100000"/>
              </a:srgbClr>
            </a:gs>
          </a:gsLst>
          <a:lin ang="12914018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41" y="1125805"/>
            <a:ext cx="15107179" cy="3760889"/>
            <a:chOff x="0" y="0"/>
            <a:chExt cx="28518828" cy="70996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518867" cy="7099681"/>
            </a:xfrm>
            <a:custGeom>
              <a:avLst/>
              <a:gdLst/>
              <a:ahLst/>
              <a:cxnLst/>
              <a:rect r="r" b="b" t="t" l="l"/>
              <a:pathLst>
                <a:path h="7099681" w="28518867">
                  <a:moveTo>
                    <a:pt x="0" y="0"/>
                  </a:moveTo>
                  <a:lnTo>
                    <a:pt x="28518867" y="0"/>
                  </a:lnTo>
                  <a:lnTo>
                    <a:pt x="28518867" y="7099681"/>
                  </a:lnTo>
                  <a:lnTo>
                    <a:pt x="0" y="70996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2" r="-1798" b="-17211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258413" y="20133597"/>
            <a:ext cx="2531595" cy="830036"/>
            <a:chOff x="0" y="0"/>
            <a:chExt cx="4779061" cy="15669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79010" cy="1566926"/>
            </a:xfrm>
            <a:custGeom>
              <a:avLst/>
              <a:gdLst/>
              <a:ahLst/>
              <a:cxnLst/>
              <a:rect r="r" b="b" t="t" l="l"/>
              <a:pathLst>
                <a:path h="1566926" w="4779010">
                  <a:moveTo>
                    <a:pt x="0" y="0"/>
                  </a:moveTo>
                  <a:lnTo>
                    <a:pt x="4779010" y="0"/>
                  </a:lnTo>
                  <a:lnTo>
                    <a:pt x="4779010" y="1566926"/>
                  </a:lnTo>
                  <a:lnTo>
                    <a:pt x="0" y="1566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3146" y="2966900"/>
            <a:ext cx="14724471" cy="16785724"/>
            <a:chOff x="0" y="0"/>
            <a:chExt cx="27796363" cy="316875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969" y="5969"/>
              <a:ext cx="27784425" cy="31675579"/>
            </a:xfrm>
            <a:custGeom>
              <a:avLst/>
              <a:gdLst/>
              <a:ahLst/>
              <a:cxnLst/>
              <a:rect r="r" b="b" t="t" l="l"/>
              <a:pathLst>
                <a:path h="31675579" w="27784425">
                  <a:moveTo>
                    <a:pt x="0" y="0"/>
                  </a:moveTo>
                  <a:lnTo>
                    <a:pt x="27784425" y="0"/>
                  </a:lnTo>
                  <a:lnTo>
                    <a:pt x="27784425" y="31675579"/>
                  </a:lnTo>
                  <a:lnTo>
                    <a:pt x="0" y="3167557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796362" cy="31687517"/>
            </a:xfrm>
            <a:custGeom>
              <a:avLst/>
              <a:gdLst/>
              <a:ahLst/>
              <a:cxnLst/>
              <a:rect r="r" b="b" t="t" l="l"/>
              <a:pathLst>
                <a:path h="31687517" w="27796362">
                  <a:moveTo>
                    <a:pt x="5969" y="0"/>
                  </a:moveTo>
                  <a:lnTo>
                    <a:pt x="27790394" y="0"/>
                  </a:lnTo>
                  <a:cubicBezTo>
                    <a:pt x="27793696" y="0"/>
                    <a:pt x="27796362" y="2667"/>
                    <a:pt x="27796362" y="5969"/>
                  </a:cubicBezTo>
                  <a:lnTo>
                    <a:pt x="27796362" y="31681548"/>
                  </a:lnTo>
                  <a:cubicBezTo>
                    <a:pt x="27796362" y="31684850"/>
                    <a:pt x="27793696" y="31687517"/>
                    <a:pt x="27790394" y="31687517"/>
                  </a:cubicBezTo>
                  <a:lnTo>
                    <a:pt x="5969" y="31687517"/>
                  </a:lnTo>
                  <a:cubicBezTo>
                    <a:pt x="2667" y="31687517"/>
                    <a:pt x="0" y="31684850"/>
                    <a:pt x="0" y="31681548"/>
                  </a:cubicBezTo>
                  <a:lnTo>
                    <a:pt x="0" y="5969"/>
                  </a:lnTo>
                  <a:cubicBezTo>
                    <a:pt x="0" y="2667"/>
                    <a:pt x="2667" y="0"/>
                    <a:pt x="5969" y="0"/>
                  </a:cubicBezTo>
                  <a:moveTo>
                    <a:pt x="5969" y="12065"/>
                  </a:moveTo>
                  <a:lnTo>
                    <a:pt x="5969" y="5969"/>
                  </a:lnTo>
                  <a:lnTo>
                    <a:pt x="12065" y="5969"/>
                  </a:lnTo>
                  <a:lnTo>
                    <a:pt x="12065" y="31681548"/>
                  </a:lnTo>
                  <a:lnTo>
                    <a:pt x="5969" y="31681548"/>
                  </a:lnTo>
                  <a:lnTo>
                    <a:pt x="5969" y="31675580"/>
                  </a:lnTo>
                  <a:lnTo>
                    <a:pt x="27790394" y="31675580"/>
                  </a:lnTo>
                  <a:lnTo>
                    <a:pt x="27790394" y="31681548"/>
                  </a:lnTo>
                  <a:lnTo>
                    <a:pt x="27784425" y="31681548"/>
                  </a:lnTo>
                  <a:lnTo>
                    <a:pt x="27784425" y="5969"/>
                  </a:lnTo>
                  <a:lnTo>
                    <a:pt x="27790394" y="5969"/>
                  </a:lnTo>
                  <a:lnTo>
                    <a:pt x="27790394" y="12065"/>
                  </a:lnTo>
                  <a:lnTo>
                    <a:pt x="5969" y="12065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" id="9"/>
          <p:cNvGrpSpPr/>
          <p:nvPr/>
        </p:nvGrpSpPr>
        <p:grpSpPr>
          <a:xfrm rot="-10800000">
            <a:off x="8057" y="-6378"/>
            <a:ext cx="15107179" cy="1249618"/>
            <a:chOff x="0" y="0"/>
            <a:chExt cx="28518828" cy="23589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518867" cy="2359025"/>
            </a:xfrm>
            <a:custGeom>
              <a:avLst/>
              <a:gdLst/>
              <a:ahLst/>
              <a:cxnLst/>
              <a:rect r="r" b="b" t="t" l="l"/>
              <a:pathLst>
                <a:path h="2359025" w="28518867">
                  <a:moveTo>
                    <a:pt x="0" y="0"/>
                  </a:moveTo>
                  <a:lnTo>
                    <a:pt x="28518867" y="0"/>
                  </a:lnTo>
                  <a:lnTo>
                    <a:pt x="28518867" y="2359025"/>
                  </a:lnTo>
                  <a:lnTo>
                    <a:pt x="0" y="23590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77244" b="-132590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42563" y="20240464"/>
            <a:ext cx="3133722" cy="723169"/>
            <a:chOff x="0" y="0"/>
            <a:chExt cx="5915736" cy="136517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15787" cy="1365123"/>
            </a:xfrm>
            <a:custGeom>
              <a:avLst/>
              <a:gdLst/>
              <a:ahLst/>
              <a:cxnLst/>
              <a:rect r="r" b="b" t="t" l="l"/>
              <a:pathLst>
                <a:path h="1365123" w="5915787">
                  <a:moveTo>
                    <a:pt x="0" y="0"/>
                  </a:moveTo>
                  <a:lnTo>
                    <a:pt x="5915787" y="0"/>
                  </a:lnTo>
                  <a:lnTo>
                    <a:pt x="5915787" y="1365123"/>
                  </a:lnTo>
                  <a:lnTo>
                    <a:pt x="0" y="13651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27" r="0" b="-53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90793" y="3354352"/>
            <a:ext cx="7028214" cy="4007164"/>
            <a:chOff x="0" y="0"/>
            <a:chExt cx="13267626" cy="756459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267689" cy="7564628"/>
            </a:xfrm>
            <a:custGeom>
              <a:avLst/>
              <a:gdLst/>
              <a:ahLst/>
              <a:cxnLst/>
              <a:rect r="r" b="b" t="t" l="l"/>
              <a:pathLst>
                <a:path h="7564628" w="13267689">
                  <a:moveTo>
                    <a:pt x="0" y="0"/>
                  </a:moveTo>
                  <a:lnTo>
                    <a:pt x="13267689" y="0"/>
                  </a:lnTo>
                  <a:lnTo>
                    <a:pt x="13267689" y="7564628"/>
                  </a:lnTo>
                  <a:lnTo>
                    <a:pt x="0" y="7564628"/>
                  </a:lnTo>
                  <a:close/>
                </a:path>
              </a:pathLst>
            </a:custGeom>
            <a:solidFill>
              <a:srgbClr val="EEF9F4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08936" y="19530777"/>
            <a:ext cx="13299849" cy="170025"/>
            <a:chOff x="0" y="0"/>
            <a:chExt cx="25107011" cy="3209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-1524" y="-1524"/>
              <a:ext cx="25110060" cy="323977"/>
            </a:xfrm>
            <a:custGeom>
              <a:avLst/>
              <a:gdLst/>
              <a:ahLst/>
              <a:cxnLst/>
              <a:rect r="r" b="b" t="t" l="l"/>
              <a:pathLst>
                <a:path h="323977" w="25110060">
                  <a:moveTo>
                    <a:pt x="1524" y="0"/>
                  </a:moveTo>
                  <a:lnTo>
                    <a:pt x="25108536" y="0"/>
                  </a:lnTo>
                  <a:cubicBezTo>
                    <a:pt x="25109424" y="0"/>
                    <a:pt x="25110060" y="762"/>
                    <a:pt x="25110060" y="1524"/>
                  </a:cubicBezTo>
                  <a:lnTo>
                    <a:pt x="25110060" y="322453"/>
                  </a:lnTo>
                  <a:cubicBezTo>
                    <a:pt x="25110060" y="323342"/>
                    <a:pt x="25109298" y="323977"/>
                    <a:pt x="25108536" y="323977"/>
                  </a:cubicBezTo>
                  <a:lnTo>
                    <a:pt x="1524" y="323977"/>
                  </a:lnTo>
                  <a:cubicBezTo>
                    <a:pt x="635" y="323977"/>
                    <a:pt x="0" y="323215"/>
                    <a:pt x="0" y="322453"/>
                  </a:cubicBezTo>
                  <a:lnTo>
                    <a:pt x="0" y="1524"/>
                  </a:lnTo>
                  <a:cubicBezTo>
                    <a:pt x="0" y="635"/>
                    <a:pt x="762" y="0"/>
                    <a:pt x="1524" y="0"/>
                  </a:cubicBezTo>
                  <a:moveTo>
                    <a:pt x="1524" y="3048"/>
                  </a:moveTo>
                  <a:lnTo>
                    <a:pt x="1524" y="1524"/>
                  </a:lnTo>
                  <a:lnTo>
                    <a:pt x="3048" y="1524"/>
                  </a:lnTo>
                  <a:lnTo>
                    <a:pt x="3048" y="322453"/>
                  </a:lnTo>
                  <a:lnTo>
                    <a:pt x="1524" y="322453"/>
                  </a:lnTo>
                  <a:lnTo>
                    <a:pt x="1524" y="320929"/>
                  </a:lnTo>
                  <a:lnTo>
                    <a:pt x="25108536" y="320929"/>
                  </a:lnTo>
                  <a:lnTo>
                    <a:pt x="25108536" y="322453"/>
                  </a:lnTo>
                  <a:lnTo>
                    <a:pt x="25107012" y="322453"/>
                  </a:lnTo>
                  <a:lnTo>
                    <a:pt x="25107012" y="1524"/>
                  </a:lnTo>
                  <a:lnTo>
                    <a:pt x="25108536" y="1524"/>
                  </a:lnTo>
                  <a:lnTo>
                    <a:pt x="25108536" y="3048"/>
                  </a:lnTo>
                  <a:lnTo>
                    <a:pt x="1524" y="3048"/>
                  </a:lnTo>
                  <a:close/>
                </a:path>
              </a:pathLst>
            </a:custGeom>
            <a:solidFill>
              <a:srgbClr val="C0C0C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25107011" cy="311442"/>
            </a:xfrm>
            <a:prstGeom prst="rect">
              <a:avLst/>
            </a:prstGeom>
          </p:spPr>
          <p:txBody>
            <a:bodyPr anchor="t" rtlCol="false" tIns="35880" lIns="35880" bIns="35880" rIns="35880"/>
            <a:lstStyle/>
            <a:p>
              <a:pPr algn="ctr">
                <a:lnSpc>
                  <a:spcPts val="964"/>
                </a:lnSpc>
              </a:pPr>
              <a:r>
                <a:rPr lang="en-US" sz="803" b="true">
                  <a:solidFill>
                    <a:srgbClr val="00000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Acknowledgments: </a:t>
              </a:r>
              <a:r>
                <a:rPr lang="en-US" sz="803">
                  <a:solidFill>
                    <a:srgbClr val="00000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Please add acknowledgements here.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 rot="-12300">
            <a:off x="7985525" y="6574422"/>
            <a:ext cx="6551810" cy="0"/>
          </a:xfrm>
          <a:prstGeom prst="line">
            <a:avLst/>
          </a:prstGeom>
          <a:ln cap="rnd" w="9525">
            <a:solidFill>
              <a:srgbClr val="96969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8053318" y="5927706"/>
            <a:ext cx="6382580" cy="609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205"/>
              </a:lnSpc>
            </a:pPr>
            <a:r>
              <a:rPr lang="en-US" sz="1004" i="true">
                <a:solidFill>
                  <a:srgbClr val="000000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Fig. 2: Left: Google Earth snapshot of the observed area. The yellow line shows the approximate projection of the slant-range vector on ground. Right: An initial PSI solution obtained with IPTA. The dots mark the detected persistent scatterers. Their color represents the estimated deformation in mm/y. The red line shows the extent of an azimuth line whose tomographic inversion is presented in Fig. 5.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5676860" y="18194448"/>
            <a:ext cx="1121035" cy="180607"/>
            <a:chOff x="0" y="0"/>
            <a:chExt cx="2116252" cy="3409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16201" cy="340995"/>
            </a:xfrm>
            <a:custGeom>
              <a:avLst/>
              <a:gdLst/>
              <a:ahLst/>
              <a:cxnLst/>
              <a:rect r="r" b="b" t="t" l="l"/>
              <a:pathLst>
                <a:path h="340995" w="2116201">
                  <a:moveTo>
                    <a:pt x="0" y="0"/>
                  </a:moveTo>
                  <a:lnTo>
                    <a:pt x="2116201" y="0"/>
                  </a:lnTo>
                  <a:lnTo>
                    <a:pt x="2116201" y="340995"/>
                  </a:lnTo>
                  <a:lnTo>
                    <a:pt x="0" y="340995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14245" y="7642208"/>
            <a:ext cx="7028214" cy="2498893"/>
            <a:chOff x="0" y="0"/>
            <a:chExt cx="13267626" cy="471732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267689" cy="4717288"/>
            </a:xfrm>
            <a:custGeom>
              <a:avLst/>
              <a:gdLst/>
              <a:ahLst/>
              <a:cxnLst/>
              <a:rect r="r" b="b" t="t" l="l"/>
              <a:pathLst>
                <a:path h="4717288" w="13267689">
                  <a:moveTo>
                    <a:pt x="0" y="0"/>
                  </a:moveTo>
                  <a:lnTo>
                    <a:pt x="13267689" y="0"/>
                  </a:lnTo>
                  <a:lnTo>
                    <a:pt x="13267689" y="4717288"/>
                  </a:lnTo>
                  <a:lnTo>
                    <a:pt x="0" y="4717288"/>
                  </a:lnTo>
                  <a:close/>
                </a:path>
              </a:pathLst>
            </a:custGeom>
            <a:solidFill>
              <a:srgbClr val="DAE5F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14245" y="10393632"/>
            <a:ext cx="7028214" cy="8994179"/>
            <a:chOff x="0" y="0"/>
            <a:chExt cx="13267626" cy="1697890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267689" cy="16978885"/>
            </a:xfrm>
            <a:custGeom>
              <a:avLst/>
              <a:gdLst/>
              <a:ahLst/>
              <a:cxnLst/>
              <a:rect r="r" b="b" t="t" l="l"/>
              <a:pathLst>
                <a:path h="16978885" w="13267689">
                  <a:moveTo>
                    <a:pt x="0" y="0"/>
                  </a:moveTo>
                  <a:lnTo>
                    <a:pt x="13267689" y="0"/>
                  </a:lnTo>
                  <a:lnTo>
                    <a:pt x="13267689" y="16978885"/>
                  </a:lnTo>
                  <a:lnTo>
                    <a:pt x="0" y="16978885"/>
                  </a:lnTo>
                  <a:close/>
                </a:path>
              </a:pathLst>
            </a:custGeom>
            <a:solidFill>
              <a:srgbClr val="F3F4D7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2299462" y="15821874"/>
            <a:ext cx="3335873" cy="3565936"/>
            <a:chOff x="0" y="0"/>
            <a:chExt cx="3726462" cy="39834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726462" cy="3983399"/>
            </a:xfrm>
            <a:custGeom>
              <a:avLst/>
              <a:gdLst/>
              <a:ahLst/>
              <a:cxnLst/>
              <a:rect r="r" b="b" t="t" l="l"/>
              <a:pathLst>
                <a:path h="3983399" w="3726462">
                  <a:moveTo>
                    <a:pt x="0" y="0"/>
                  </a:moveTo>
                  <a:lnTo>
                    <a:pt x="3726462" y="0"/>
                  </a:lnTo>
                  <a:lnTo>
                    <a:pt x="3726462" y="3983399"/>
                  </a:lnTo>
                  <a:lnTo>
                    <a:pt x="0" y="3983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150" t="0" r="-415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635335" y="15821874"/>
            <a:ext cx="1769407" cy="1907136"/>
            <a:chOff x="0" y="0"/>
            <a:chExt cx="3340227" cy="360022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340227" cy="3600170"/>
            </a:xfrm>
            <a:custGeom>
              <a:avLst/>
              <a:gdLst/>
              <a:ahLst/>
              <a:cxnLst/>
              <a:rect r="r" b="b" t="t" l="l"/>
              <a:pathLst>
                <a:path h="3600170" w="3340227">
                  <a:moveTo>
                    <a:pt x="0" y="0"/>
                  </a:moveTo>
                  <a:lnTo>
                    <a:pt x="3340227" y="0"/>
                  </a:lnTo>
                  <a:lnTo>
                    <a:pt x="3340227" y="3600170"/>
                  </a:lnTo>
                  <a:lnTo>
                    <a:pt x="0" y="36001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3891" t="0" r="-3891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5635335" y="17692312"/>
            <a:ext cx="1769407" cy="1695498"/>
            <a:chOff x="0" y="0"/>
            <a:chExt cx="3340227" cy="320070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340227" cy="3200654"/>
            </a:xfrm>
            <a:custGeom>
              <a:avLst/>
              <a:gdLst/>
              <a:ahLst/>
              <a:cxnLst/>
              <a:rect r="r" b="b" t="t" l="l"/>
              <a:pathLst>
                <a:path h="3200654" w="3340227">
                  <a:moveTo>
                    <a:pt x="0" y="0"/>
                  </a:moveTo>
                  <a:lnTo>
                    <a:pt x="3340227" y="0"/>
                  </a:lnTo>
                  <a:lnTo>
                    <a:pt x="3340227" y="3200654"/>
                  </a:lnTo>
                  <a:lnTo>
                    <a:pt x="0" y="320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087" r="0" b="-3087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460749" y="17729010"/>
            <a:ext cx="1838713" cy="1695498"/>
            <a:chOff x="0" y="0"/>
            <a:chExt cx="3471061" cy="320070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471061" cy="3200654"/>
            </a:xfrm>
            <a:custGeom>
              <a:avLst/>
              <a:gdLst/>
              <a:ahLst/>
              <a:cxnLst/>
              <a:rect r="r" b="b" t="t" l="l"/>
              <a:pathLst>
                <a:path h="3200654" w="3471061">
                  <a:moveTo>
                    <a:pt x="0" y="0"/>
                  </a:moveTo>
                  <a:lnTo>
                    <a:pt x="3471061" y="0"/>
                  </a:lnTo>
                  <a:lnTo>
                    <a:pt x="3471061" y="3200654"/>
                  </a:lnTo>
                  <a:lnTo>
                    <a:pt x="0" y="32006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8395" r="0" b="-8395"/>
              </a:stretch>
            </a:blipFill>
          </p:spPr>
        </p:sp>
      </p:grpSp>
      <p:sp>
        <p:nvSpPr>
          <p:cNvPr name="AutoShape 34" id="34"/>
          <p:cNvSpPr/>
          <p:nvPr/>
        </p:nvSpPr>
        <p:spPr>
          <a:xfrm rot="2482140">
            <a:off x="936321" y="18408303"/>
            <a:ext cx="573380" cy="0"/>
          </a:xfrm>
          <a:prstGeom prst="line">
            <a:avLst/>
          </a:prstGeom>
          <a:ln cap="rnd" w="9525">
            <a:solidFill>
              <a:srgbClr val="96969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5" id="35"/>
          <p:cNvSpPr/>
          <p:nvPr/>
        </p:nvSpPr>
        <p:spPr>
          <a:xfrm rot="2465400">
            <a:off x="1158511" y="18483604"/>
            <a:ext cx="262865" cy="0"/>
          </a:xfrm>
          <a:prstGeom prst="line">
            <a:avLst/>
          </a:prstGeom>
          <a:ln cap="rnd" w="9525">
            <a:solidFill>
              <a:srgbClr val="96969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6" id="36"/>
          <p:cNvGrpSpPr/>
          <p:nvPr/>
        </p:nvGrpSpPr>
        <p:grpSpPr>
          <a:xfrm rot="0">
            <a:off x="7649909" y="3349965"/>
            <a:ext cx="7028214" cy="6791136"/>
            <a:chOff x="0" y="0"/>
            <a:chExt cx="13267626" cy="1282007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267689" cy="12820015"/>
            </a:xfrm>
            <a:custGeom>
              <a:avLst/>
              <a:gdLst/>
              <a:ahLst/>
              <a:cxnLst/>
              <a:rect r="r" b="b" t="t" l="l"/>
              <a:pathLst>
                <a:path h="12820015" w="13267689">
                  <a:moveTo>
                    <a:pt x="0" y="0"/>
                  </a:moveTo>
                  <a:lnTo>
                    <a:pt x="13267689" y="0"/>
                  </a:lnTo>
                  <a:lnTo>
                    <a:pt x="13267689" y="12820015"/>
                  </a:lnTo>
                  <a:lnTo>
                    <a:pt x="0" y="12820015"/>
                  </a:lnTo>
                  <a:close/>
                </a:path>
              </a:pathLst>
            </a:custGeom>
            <a:solidFill>
              <a:srgbClr val="EEF9F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682766" y="10393632"/>
            <a:ext cx="7028214" cy="8994179"/>
            <a:chOff x="0" y="0"/>
            <a:chExt cx="13267626" cy="1697890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3267689" cy="16978885"/>
            </a:xfrm>
            <a:custGeom>
              <a:avLst/>
              <a:gdLst/>
              <a:ahLst/>
              <a:cxnLst/>
              <a:rect r="r" b="b" t="t" l="l"/>
              <a:pathLst>
                <a:path h="16978885" w="13267689">
                  <a:moveTo>
                    <a:pt x="0" y="0"/>
                  </a:moveTo>
                  <a:lnTo>
                    <a:pt x="13267689" y="0"/>
                  </a:lnTo>
                  <a:lnTo>
                    <a:pt x="13267689" y="16978885"/>
                  </a:lnTo>
                  <a:lnTo>
                    <a:pt x="0" y="16978885"/>
                  </a:lnTo>
                  <a:close/>
                </a:path>
              </a:pathLst>
            </a:custGeom>
            <a:solidFill>
              <a:srgbClr val="F3F4D7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479765" y="15793013"/>
            <a:ext cx="1819697" cy="1935997"/>
            <a:chOff x="0" y="0"/>
            <a:chExt cx="3435164" cy="365471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435164" cy="3654653"/>
            </a:xfrm>
            <a:custGeom>
              <a:avLst/>
              <a:gdLst/>
              <a:ahLst/>
              <a:cxnLst/>
              <a:rect r="r" b="b" t="t" l="l"/>
              <a:pathLst>
                <a:path h="3654653" w="3435164">
                  <a:moveTo>
                    <a:pt x="0" y="0"/>
                  </a:moveTo>
                  <a:lnTo>
                    <a:pt x="3435164" y="0"/>
                  </a:lnTo>
                  <a:lnTo>
                    <a:pt x="3435164" y="3654653"/>
                  </a:lnTo>
                  <a:lnTo>
                    <a:pt x="0" y="3654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606" t="0" r="-606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826035" y="10860639"/>
            <a:ext cx="3187845" cy="2941477"/>
            <a:chOff x="0" y="0"/>
            <a:chExt cx="3960817" cy="365471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960817" cy="3654653"/>
            </a:xfrm>
            <a:custGeom>
              <a:avLst/>
              <a:gdLst/>
              <a:ahLst/>
              <a:cxnLst/>
              <a:rect r="r" b="b" t="t" l="l"/>
              <a:pathLst>
                <a:path h="3654653" w="3960817">
                  <a:moveTo>
                    <a:pt x="0" y="0"/>
                  </a:moveTo>
                  <a:lnTo>
                    <a:pt x="3960817" y="0"/>
                  </a:lnTo>
                  <a:lnTo>
                    <a:pt x="3960817" y="3654653"/>
                  </a:lnTo>
                  <a:lnTo>
                    <a:pt x="0" y="3654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5155" r="0" b="-5155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7773769" y="14038336"/>
            <a:ext cx="6917808" cy="2941477"/>
            <a:chOff x="0" y="0"/>
            <a:chExt cx="8595202" cy="36547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595202" cy="3654653"/>
            </a:xfrm>
            <a:custGeom>
              <a:avLst/>
              <a:gdLst/>
              <a:ahLst/>
              <a:cxnLst/>
              <a:rect r="r" b="b" t="t" l="l"/>
              <a:pathLst>
                <a:path h="3654653" w="8595202">
                  <a:moveTo>
                    <a:pt x="0" y="0"/>
                  </a:moveTo>
                  <a:lnTo>
                    <a:pt x="8595202" y="0"/>
                  </a:lnTo>
                  <a:lnTo>
                    <a:pt x="8595202" y="3654653"/>
                  </a:lnTo>
                  <a:lnTo>
                    <a:pt x="0" y="3654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1955" t="0" r="-1955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1349469" y="10860639"/>
            <a:ext cx="3187845" cy="2941477"/>
            <a:chOff x="0" y="0"/>
            <a:chExt cx="3960817" cy="365471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960817" cy="3654653"/>
            </a:xfrm>
            <a:custGeom>
              <a:avLst/>
              <a:gdLst/>
              <a:ahLst/>
              <a:cxnLst/>
              <a:rect r="r" b="b" t="t" l="l"/>
              <a:pathLst>
                <a:path h="3654653" w="3960817">
                  <a:moveTo>
                    <a:pt x="0" y="0"/>
                  </a:moveTo>
                  <a:lnTo>
                    <a:pt x="3960817" y="0"/>
                  </a:lnTo>
                  <a:lnTo>
                    <a:pt x="3960817" y="3654653"/>
                  </a:lnTo>
                  <a:lnTo>
                    <a:pt x="0" y="36546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5155" r="0" b="-5155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826035" y="17036963"/>
            <a:ext cx="6917808" cy="2350848"/>
            <a:chOff x="0" y="0"/>
            <a:chExt cx="8595202" cy="2920869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595202" cy="2920823"/>
            </a:xfrm>
            <a:custGeom>
              <a:avLst/>
              <a:gdLst/>
              <a:ahLst/>
              <a:cxnLst/>
              <a:rect r="r" b="b" t="t" l="l"/>
              <a:pathLst>
                <a:path h="2920823" w="8595202">
                  <a:moveTo>
                    <a:pt x="0" y="0"/>
                  </a:moveTo>
                  <a:lnTo>
                    <a:pt x="8595202" y="0"/>
                  </a:lnTo>
                  <a:lnTo>
                    <a:pt x="8595202" y="2920823"/>
                  </a:lnTo>
                  <a:lnTo>
                    <a:pt x="0" y="2920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-175" t="0" r="-175" b="0"/>
              </a:stretch>
            </a:blip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5748772" y="1818543"/>
            <a:ext cx="3897509" cy="353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2"/>
              </a:lnSpc>
            </a:pPr>
            <a:r>
              <a:rPr lang="en-US" sz="241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Fouz Ul Azeem (bscs23095) 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34056" y="3554340"/>
            <a:ext cx="4167636" cy="34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2"/>
              </a:lnSpc>
            </a:pPr>
            <a:r>
              <a:rPr lang="en-US" sz="24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1. </a:t>
            </a:r>
            <a:r>
              <a:rPr lang="en-US" sz="241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Introduction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557508" y="3792784"/>
            <a:ext cx="6274852" cy="307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5"/>
              </a:lnSpc>
            </a:pPr>
          </a:p>
          <a:p>
            <a:pPr algn="l" marL="318590" indent="-159295" lvl="1">
              <a:lnSpc>
                <a:spcPts val="3085"/>
              </a:lnSpc>
              <a:buFont typeface="Arial"/>
              <a:buChar char="•"/>
            </a:pPr>
            <a:r>
              <a:rPr lang="en-US" sz="1607" spc="-4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Jakarta</a:t>
            </a:r>
            <a:r>
              <a:rPr lang="en-US" sz="1607" spc="-4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faces recurring urban flooding due to dense population, river systems, and low-lying terrain.</a:t>
            </a:r>
          </a:p>
          <a:p>
            <a:pPr algn="l" marL="318590" indent="-159295" lvl="1">
              <a:lnSpc>
                <a:spcPts val="3085"/>
              </a:lnSpc>
              <a:buFont typeface="Arial"/>
              <a:buChar char="•"/>
            </a:pPr>
            <a:r>
              <a:rPr lang="en-US" sz="1607" spc="-4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This project uses GIS and spatial analysis techniques to map flood risk across Jakarta districts.</a:t>
            </a:r>
          </a:p>
          <a:p>
            <a:pPr algn="l" marL="318590" indent="-159295" lvl="1">
              <a:lnSpc>
                <a:spcPts val="3085"/>
              </a:lnSpc>
              <a:buFont typeface="Arial"/>
              <a:buChar char="•"/>
            </a:pPr>
            <a:r>
              <a:rPr lang="en-US" sz="1607" spc="-4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Multiple spatial factors including flood history, elevation, population, and drainage infrastructure were analyzed.</a:t>
            </a:r>
          </a:p>
          <a:p>
            <a:pPr algn="l" marL="318591" indent="-159295" lvl="1">
              <a:lnSpc>
                <a:spcPts val="3085"/>
              </a:lnSpc>
              <a:buFont typeface="Arial"/>
              <a:buChar char="•"/>
            </a:pPr>
            <a:r>
              <a:rPr lang="en-US" sz="1607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The study identifies high-risk and infrastructure-deficient areas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80919" y="2529987"/>
            <a:ext cx="1968252" cy="229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8"/>
              </a:lnSpc>
            </a:pPr>
            <a:r>
              <a:rPr lang="en-US" sz="1607" i="true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Session: Spring 2025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50628" y="265422"/>
            <a:ext cx="14609605" cy="219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1"/>
              </a:lnSpc>
            </a:pPr>
            <a:r>
              <a:rPr lang="en-US" sz="4017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Urban</a:t>
            </a:r>
            <a:r>
              <a:rPr lang="en-US" sz="4017" b="true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flooding and population exposure analysis in Jakarta</a:t>
            </a:r>
          </a:p>
          <a:p>
            <a:pPr algn="ctr">
              <a:lnSpc>
                <a:spcPts val="2301"/>
              </a:lnSpc>
            </a:pPr>
            <a:r>
              <a:rPr lang="en-US" sz="1917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 GIS-Based Assessment of Flood Risk, Drainage Infrastructure Gaps, and Vulnerable Districts</a:t>
            </a:r>
          </a:p>
          <a:p>
            <a:pPr algn="ctr">
              <a:lnSpc>
                <a:spcPts val="4821"/>
              </a:lnSpc>
            </a:pPr>
          </a:p>
          <a:p>
            <a:pPr algn="ctr">
              <a:lnSpc>
                <a:spcPts val="4821"/>
              </a:lnSpc>
            </a:pPr>
          </a:p>
        </p:txBody>
      </p:sp>
      <p:sp>
        <p:nvSpPr>
          <p:cNvPr name="TextBox 55" id="55"/>
          <p:cNvSpPr txBox="true"/>
          <p:nvPr/>
        </p:nvSpPr>
        <p:spPr>
          <a:xfrm rot="0">
            <a:off x="6030741" y="2564056"/>
            <a:ext cx="3053120" cy="229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8"/>
              </a:lnSpc>
            </a:pPr>
            <a:r>
              <a:rPr lang="en-US" sz="1607" i="true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Supervisor: Dr. Adnan Siddique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069860" y="2492367"/>
            <a:ext cx="2763823" cy="229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928"/>
              </a:lnSpc>
            </a:pPr>
            <a:r>
              <a:rPr lang="en-US" sz="1607" i="true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Course: Spatial Data Science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57508" y="7842196"/>
            <a:ext cx="3146380" cy="386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2"/>
              </a:lnSpc>
            </a:pPr>
            <a:r>
              <a:rPr lang="en-US" sz="24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2. </a:t>
            </a:r>
            <a:r>
              <a:rPr lang="en-US" sz="241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Problem Statement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66462" y="7875842"/>
            <a:ext cx="6003199" cy="2507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1"/>
              </a:lnSpc>
            </a:pPr>
            <a:r>
              <a:rPr lang="en-US" sz="1537" spc="-48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</a:t>
            </a:r>
          </a:p>
          <a:p>
            <a:pPr algn="l" marL="285831" indent="-142915" lvl="1">
              <a:lnSpc>
                <a:spcPts val="2768"/>
              </a:lnSpc>
              <a:buFont typeface="Arial"/>
              <a:buChar char="•"/>
            </a:pPr>
            <a:r>
              <a:rPr lang="en-US" sz="1441" spc="-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Which</a:t>
            </a:r>
            <a:r>
              <a:rPr lang="en-US" sz="1441" spc="-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districts in Jakarta are most vulnerable to urban flooding?</a:t>
            </a:r>
          </a:p>
          <a:p>
            <a:pPr algn="l" marL="285831" indent="-142915" lvl="1">
              <a:lnSpc>
                <a:spcPts val="2768"/>
              </a:lnSpc>
              <a:buFont typeface="Arial"/>
              <a:buChar char="•"/>
            </a:pPr>
            <a:r>
              <a:rPr lang="en-US" sz="1441" spc="-4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How are flood risk patterns related to population exposure and drainage infrastructure coverage?</a:t>
            </a:r>
          </a:p>
          <a:p>
            <a:pPr algn="l" marL="304798" indent="-152399" lvl="1">
              <a:lnSpc>
                <a:spcPts val="2951"/>
              </a:lnSpc>
              <a:buFont typeface="Arial"/>
              <a:buChar char="•"/>
            </a:pPr>
            <a:r>
              <a:rPr lang="en-US" sz="1537" spc="-47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Which high-risk districts should be prioritized for future drainage infrastructure and shelter improvements?</a:t>
            </a:r>
          </a:p>
          <a:p>
            <a:pPr algn="l">
              <a:lnSpc>
                <a:spcPts val="2951"/>
              </a:lnSpc>
            </a:pPr>
          </a:p>
        </p:txBody>
      </p:sp>
      <p:sp>
        <p:nvSpPr>
          <p:cNvPr name="TextBox 59" id="59"/>
          <p:cNvSpPr txBox="true"/>
          <p:nvPr/>
        </p:nvSpPr>
        <p:spPr>
          <a:xfrm rot="0">
            <a:off x="557508" y="10593620"/>
            <a:ext cx="4167636" cy="34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2"/>
              </a:lnSpc>
            </a:pPr>
            <a:r>
              <a:rPr lang="en-US" sz="24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3. </a:t>
            </a:r>
            <a:r>
              <a:rPr lang="en-US" sz="241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12682" y="10965414"/>
            <a:ext cx="6274852" cy="1889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6960" indent="-173480" lvl="1">
              <a:lnSpc>
                <a:spcPts val="2378"/>
              </a:lnSpc>
              <a:buFont typeface="Arial"/>
              <a:buChar char="•"/>
            </a:pPr>
            <a:r>
              <a:rPr lang="en-US" b="true" sz="1607" spc="-4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SRTM Elevation Raster</a:t>
            </a:r>
            <a:r>
              <a:rPr lang="en-US" sz="1607" spc="-4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- NASA EarthExplorer </a:t>
            </a:r>
          </a:p>
          <a:p>
            <a:pPr algn="l" marL="346960" indent="-173480" lvl="1">
              <a:lnSpc>
                <a:spcPts val="2378"/>
              </a:lnSpc>
              <a:buFont typeface="Arial"/>
              <a:buChar char="•"/>
            </a:pPr>
            <a:r>
              <a:rPr lang="en-US" b="true" sz="1607" spc="-4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Population Density Raster</a:t>
            </a:r>
            <a:r>
              <a:rPr lang="en-US" sz="1607" spc="-4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- WorldPop</a:t>
            </a:r>
          </a:p>
          <a:p>
            <a:pPr algn="l" marL="346960" indent="-173480" lvl="1">
              <a:lnSpc>
                <a:spcPts val="2378"/>
              </a:lnSpc>
              <a:buFont typeface="Arial"/>
              <a:buChar char="•"/>
            </a:pPr>
            <a:r>
              <a:rPr lang="en-US" b="true" sz="1607" spc="-4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Flood Hazard Index 2023 </a:t>
            </a:r>
            <a:r>
              <a:rPr lang="en-US" sz="1607" spc="-4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 DKI Jakarta Open Data Portal</a:t>
            </a:r>
          </a:p>
          <a:p>
            <a:pPr algn="l" marL="346960" indent="-173480" lvl="1">
              <a:lnSpc>
                <a:spcPts val="2378"/>
              </a:lnSpc>
              <a:buFont typeface="Arial"/>
              <a:buChar char="•"/>
            </a:pPr>
            <a:r>
              <a:rPr lang="en-US" b="true" sz="1607" spc="-4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Flood Incident Records 2016–2020</a:t>
            </a:r>
            <a:r>
              <a:rPr lang="en-US" sz="1607" spc="-4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- DKI Jakarta Open Data Portal</a:t>
            </a:r>
          </a:p>
          <a:p>
            <a:pPr algn="l" marL="346960" indent="-173480" lvl="1">
              <a:lnSpc>
                <a:spcPts val="2378"/>
              </a:lnSpc>
              <a:buFont typeface="Arial"/>
              <a:buChar char="•"/>
            </a:pPr>
            <a:r>
              <a:rPr lang="en-US" b="true" sz="1607" spc="-4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District Boundaries </a:t>
            </a:r>
            <a:r>
              <a:rPr lang="en-US" sz="1607" spc="-4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 OpenStreetMap via OSMnx </a:t>
            </a:r>
          </a:p>
          <a:p>
            <a:pPr algn="l" marL="346960" indent="-173480" lvl="1">
              <a:lnSpc>
                <a:spcPts val="2378"/>
              </a:lnSpc>
              <a:buFont typeface="Arial"/>
              <a:buChar char="•"/>
            </a:pPr>
            <a:r>
              <a:rPr lang="en-US" b="true" sz="1607" spc="-5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Drainage/River Network  </a:t>
            </a:r>
            <a:r>
              <a:rPr lang="en-US" sz="1607" spc="-5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- OpenStreetMap via Overpass API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7793171" y="3549953"/>
            <a:ext cx="4167636" cy="34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2"/>
              </a:lnSpc>
            </a:pPr>
            <a:r>
              <a:rPr lang="en-US" sz="24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4. </a:t>
            </a:r>
            <a:r>
              <a:rPr lang="en-US" sz="241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Methodology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928031" y="4082941"/>
            <a:ext cx="6609283" cy="5357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71789" indent="-135894" lvl="1">
              <a:lnSpc>
                <a:spcPts val="1926"/>
              </a:lnSpc>
              <a:buFont typeface="Arial"/>
              <a:buChar char="•"/>
            </a:pPr>
            <a:r>
              <a:rPr lang="en-US" b="true" sz="1258" spc="-3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Collection</a:t>
            </a:r>
            <a:r>
              <a:rPr lang="en-US" sz="1258" spc="-3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— Five spatial datasets acquired: SRTM elevation raster (NASA EarthExplorer), WorldPop population raster, flood hazard index and incident rec</a:t>
            </a:r>
            <a:r>
              <a:rPr lang="en-US" sz="1258" spc="-3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ords 2016–2020 (DKI Jakarta Open Data), and drainage network (OpenStreetMap via OSMnx)</a:t>
            </a:r>
          </a:p>
          <a:p>
            <a:pPr algn="l" marL="271789" indent="-135894" lvl="1">
              <a:lnSpc>
                <a:spcPts val="1926"/>
              </a:lnSpc>
              <a:buFont typeface="Arial"/>
              <a:buChar char="•"/>
            </a:pPr>
            <a:r>
              <a:rPr lang="en-US" b="true" sz="1258" spc="-3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CRS Alignment</a:t>
            </a:r>
            <a:r>
              <a:rPr lang="en-US" sz="1258" spc="-3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— All layers reprojected to a common coordinate reference system for spatial consistency</a:t>
            </a:r>
          </a:p>
          <a:p>
            <a:pPr algn="l" marL="271789" indent="-135894" lvl="1">
              <a:lnSpc>
                <a:spcPts val="1926"/>
              </a:lnSpc>
              <a:buFont typeface="Arial"/>
              <a:buChar char="•"/>
            </a:pPr>
            <a:r>
              <a:rPr lang="en-US" b="true" sz="1258" spc="-3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Raster Processing</a:t>
            </a:r>
            <a:r>
              <a:rPr lang="en-US" sz="1258" spc="-3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— Elevation tiles merged, rasters clipped to Jakarta mainland boundary, NoData values removed, zonal statistics extracted per kecamatan</a:t>
            </a:r>
          </a:p>
          <a:p>
            <a:pPr algn="l" marL="271789" indent="-135894" lvl="1">
              <a:lnSpc>
                <a:spcPts val="1926"/>
              </a:lnSpc>
              <a:buFont typeface="Arial"/>
              <a:buChar char="•"/>
            </a:pPr>
            <a:r>
              <a:rPr lang="en-US" b="true" sz="1258" spc="-3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MCE Scoring</a:t>
            </a:r>
            <a:r>
              <a:rPr lang="en-US" sz="1258" spc="-3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— Each indicator scored 0–4 against absolute thresholds and weighted: 0.45 × Incidents + 0.30 × Hazard + 0.15 × Elevation + 0.10 × River Proximity</a:t>
            </a:r>
          </a:p>
          <a:p>
            <a:pPr algn="l" marL="271789" indent="-135894" lvl="1">
              <a:lnSpc>
                <a:spcPts val="1926"/>
              </a:lnSpc>
              <a:buFont typeface="Arial"/>
              <a:buChar char="•"/>
            </a:pPr>
            <a:r>
              <a:rPr lang="en-US" b="true" sz="1258" spc="-3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Spatial Weights Matrix</a:t>
            </a:r>
            <a:r>
              <a:rPr lang="en-US" sz="1258" spc="-3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— Queen contiguity matrix constructed (n=42, avg 5.1 neighbours), row-standardised</a:t>
            </a:r>
          </a:p>
          <a:p>
            <a:pPr algn="l" marL="271790" indent="-135895" lvl="1">
              <a:lnSpc>
                <a:spcPts val="1926"/>
              </a:lnSpc>
              <a:buFont typeface="Arial"/>
              <a:buChar char="•"/>
            </a:pPr>
            <a:r>
              <a:rPr lang="en-US" b="true" sz="1258" spc="-3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Spatial Autocorrelation </a:t>
            </a:r>
            <a:r>
              <a:rPr lang="en-US" sz="1258" spc="-3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— Global Moran's I, Local Moran's I (LISA), and Getis-Ord Gi* applied to detect clusters and hotspots</a:t>
            </a:r>
          </a:p>
          <a:p>
            <a:pPr algn="l" marL="271789" indent="-135894" lvl="1">
              <a:lnSpc>
                <a:spcPts val="1926"/>
              </a:lnSpc>
              <a:buFont typeface="Arial"/>
              <a:buChar char="•"/>
            </a:pPr>
            <a:r>
              <a:rPr lang="en-US" b="true" sz="1258" spc="-3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Spatial Regression</a:t>
            </a:r>
            <a:r>
              <a:rPr lang="en-US" sz="1258" spc="-3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— OLS baseline with LM diagnostics, followed by ML Spatial Lag model to account for neighbourhood spillover</a:t>
            </a:r>
          </a:p>
          <a:p>
            <a:pPr algn="l" marL="271789" indent="-135894" lvl="1">
              <a:lnSpc>
                <a:spcPts val="1926"/>
              </a:lnSpc>
              <a:buFont typeface="Arial"/>
              <a:buChar char="•"/>
            </a:pPr>
            <a:r>
              <a:rPr lang="en-US" b="true" sz="1258" spc="-3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Infrastructure Gap Analysis </a:t>
            </a:r>
            <a:r>
              <a:rPr lang="en-US" sz="1258" spc="-3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— Drainage density computed per km², overlaid with risk tiers to identify priority investment zones</a:t>
            </a:r>
          </a:p>
          <a:p>
            <a:pPr algn="l" marL="271789" indent="-135894" lvl="1">
              <a:lnSpc>
                <a:spcPts val="1926"/>
              </a:lnSpc>
              <a:buFont typeface="Arial"/>
              <a:buChar char="•"/>
            </a:pPr>
            <a:r>
              <a:rPr lang="en-US" b="true" sz="1258" spc="-39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Shelter Placement</a:t>
            </a:r>
            <a:r>
              <a:rPr lang="en-US" sz="1258" spc="-39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— Spatial neighbour algorithm identifies safe adjacent districts for emergency shelter siting</a:t>
            </a:r>
          </a:p>
          <a:p>
            <a:pPr algn="l">
              <a:lnSpc>
                <a:spcPts val="2417"/>
              </a:lnSpc>
            </a:pPr>
          </a:p>
          <a:p>
            <a:pPr algn="l" marL="249616" indent="-124808" lvl="1">
              <a:lnSpc>
                <a:spcPts val="2417"/>
              </a:lnSpc>
            </a:pPr>
          </a:p>
        </p:txBody>
      </p:sp>
      <p:sp>
        <p:nvSpPr>
          <p:cNvPr name="TextBox 63" id="63"/>
          <p:cNvSpPr txBox="true"/>
          <p:nvPr/>
        </p:nvSpPr>
        <p:spPr>
          <a:xfrm rot="0">
            <a:off x="7826035" y="10488845"/>
            <a:ext cx="4167636" cy="34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2"/>
              </a:lnSpc>
            </a:pPr>
            <a:r>
              <a:rPr lang="en-US" sz="241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5. </a:t>
            </a:r>
            <a:r>
              <a:rPr lang="en-US" sz="241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Results &amp; Discussion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576866" y="12939353"/>
            <a:ext cx="1722596" cy="398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4"/>
              </a:lnSpc>
            </a:pPr>
            <a:r>
              <a:rPr lang="en-US" sz="23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3.1 </a:t>
            </a:r>
            <a:r>
              <a:rPr lang="en-US" sz="231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Cleaning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37389" y="13404554"/>
            <a:ext cx="6431339" cy="22839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3760" indent="-156880" lvl="1">
              <a:lnSpc>
                <a:spcPts val="2179"/>
              </a:lnSpc>
              <a:buFont typeface="Arial"/>
              <a:buChar char="•"/>
            </a:pPr>
            <a:r>
              <a:rPr lang="en-US" sz="1453" spc="-4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All datasets were reprojected to the common projected coordinate reference system </a:t>
            </a:r>
            <a:r>
              <a:rPr lang="en-US" b="true" sz="1453" spc="-4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EPSG:3857</a:t>
            </a:r>
            <a:r>
              <a:rPr lang="en-US" sz="1453" spc="-4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for meter-based distance calculations.</a:t>
            </a:r>
          </a:p>
          <a:p>
            <a:pPr algn="l" marL="313760" indent="-156880" lvl="1">
              <a:lnSpc>
                <a:spcPts val="2179"/>
              </a:lnSpc>
              <a:buFont typeface="Arial"/>
              <a:buChar char="•"/>
            </a:pPr>
            <a:r>
              <a:rPr lang="en-US" b="true" sz="1453" spc="-4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Invalid</a:t>
            </a:r>
            <a:r>
              <a:rPr lang="en-US" sz="1453" spc="-4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and </a:t>
            </a:r>
            <a:r>
              <a:rPr lang="en-US" b="true" sz="1453" spc="-4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NoData </a:t>
            </a:r>
            <a:r>
              <a:rPr lang="en-US" sz="1453" spc="-4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raster values were masked and removed using null assignment </a:t>
            </a:r>
            <a:r>
              <a:rPr lang="en-US" b="true" sz="1453" spc="-4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np.nan</a:t>
            </a:r>
            <a:r>
              <a:rPr lang="en-US" sz="1453" spc="-4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values across data arrays.</a:t>
            </a:r>
          </a:p>
          <a:p>
            <a:pPr algn="l" marL="313760" indent="-156880" lvl="1">
              <a:lnSpc>
                <a:spcPts val="2179"/>
              </a:lnSpc>
              <a:buFont typeface="Arial"/>
              <a:buChar char="•"/>
            </a:pPr>
            <a:r>
              <a:rPr lang="en-US" sz="1453" spc="-4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Continuous topographical parameters were transformed into ordinal multi-criteria evaluation (MCE) vulnerability scores scaled from 0 to 4.</a:t>
            </a:r>
          </a:p>
          <a:p>
            <a:pPr algn="l" marL="313760" indent="-156880" lvl="1">
              <a:lnSpc>
                <a:spcPts val="2179"/>
              </a:lnSpc>
              <a:buFont typeface="Arial"/>
              <a:buChar char="•"/>
            </a:pPr>
            <a:r>
              <a:rPr lang="en-US" sz="1453" spc="-45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Localized drainage metrics were computed across administrative geometries into a weighted network density index mapping vector features per </a:t>
            </a:r>
            <a:r>
              <a:rPr lang="en-US" b="true" sz="1453" spc="-45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KM squared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928031" y="13811641"/>
            <a:ext cx="1343382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Fig.1 LISA plotting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379334" y="14305036"/>
            <a:ext cx="1569363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Fig.3 BI-LISA plotting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420808" y="13783066"/>
            <a:ext cx="1675209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Fig.2 G* GETIS plotting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107214" y="19368760"/>
            <a:ext cx="3813334" cy="198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Fig.4 drainage issues and reccomendations plotting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DAHJ7pw0yXU</dc:identifier>
  <dcterms:modified xsi:type="dcterms:W3CDTF">2011-08-01T06:04:30Z</dcterms:modified>
  <cp:revision>1</cp:revision>
  <dc:title>Fouz Ul Azeem (bscs23096)</dc:title>
</cp:coreProperties>
</file>